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Fraunces Extra Bold" panose="020B0604020202020204" charset="0"/>
      <p:regular r:id="rId17"/>
    </p:embeddedFont>
    <p:embeddedFont>
      <p:font typeface="Nobile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F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6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560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9150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Design and Simulation of a 16-Bit Computer Using Logisim Evolution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5800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Presented by: Ahmad Rayan Qasim, Abdul Kabir Syed, Attique Alvi, Abdul Samad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03896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Course: EE123 - Digital Logic Design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65701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Supervisor: Prof. Mughees Ahmad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27507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Submission Date: 17 June 2025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475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096453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7017306" y="2174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266473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a 16-bit computer from basic components.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3481268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7017306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Tool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17306" y="404955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Logisim Evolution for simulation.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866084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7017306" y="4943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Method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543437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Designing from scratch, no pre-made CPUs.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6250900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14" name="Text 11"/>
          <p:cNvSpPr/>
          <p:nvPr/>
        </p:nvSpPr>
        <p:spPr>
          <a:xfrm>
            <a:off x="7017306" y="6328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Focus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81918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Instruction cycle, data processing, control flow.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01D0D-056A-4D81-8146-26390A34F68A}"/>
              </a:ext>
            </a:extLst>
          </p:cNvPr>
          <p:cNvSpPr/>
          <p:nvPr/>
        </p:nvSpPr>
        <p:spPr>
          <a:xfrm>
            <a:off x="12778740" y="7600950"/>
            <a:ext cx="1851660" cy="62865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200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Main Components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84408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019068"/>
            <a:ext cx="21975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ALU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509486"/>
            <a:ext cx="21975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Arithmetic and logical operations.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884408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75741" y="3019068"/>
            <a:ext cx="21976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Registers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975741" y="3509486"/>
            <a:ext cx="21976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Temporary data storage.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88440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07348" y="3019068"/>
            <a:ext cx="21976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RAM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307348" y="3509486"/>
            <a:ext cx="21976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Stores instructions and data.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88440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638955" y="3019068"/>
            <a:ext cx="21976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Program Counter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1638955" y="3863816"/>
            <a:ext cx="21976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Points to next instruction.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156597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44253" y="5291257"/>
            <a:ext cx="21975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Control Unit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1644253" y="5781675"/>
            <a:ext cx="21975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Directs CPU operations.</a:t>
            </a:r>
            <a:endParaRPr lang="en-US" sz="17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5278" y="5156597"/>
            <a:ext cx="566976" cy="56697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975741" y="5291257"/>
            <a:ext cx="21976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Clock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4975741" y="5781675"/>
            <a:ext cx="21976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Synchronizes all operations.</a:t>
            </a:r>
            <a:endParaRPr lang="en-US" sz="17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84AAF1-D56A-46BB-8F9A-4C8F0DF1BC44}"/>
              </a:ext>
            </a:extLst>
          </p:cNvPr>
          <p:cNvSpPr/>
          <p:nvPr/>
        </p:nvSpPr>
        <p:spPr>
          <a:xfrm>
            <a:off x="12778740" y="7600950"/>
            <a:ext cx="1851660" cy="62865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5667"/>
            <a:ext cx="7517963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Additional Components (New Additions)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81238"/>
            <a:ext cx="737116" cy="8845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78305" y="2428637"/>
            <a:ext cx="2324576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Instruction Register (IR)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678305" y="2747367"/>
            <a:ext cx="1215830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Holds current fetched instruction.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165753"/>
            <a:ext cx="737116" cy="8845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78305" y="331315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Flags Register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678305" y="3631883"/>
            <a:ext cx="1215830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Stores status flags (Z, C, N, V).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050268"/>
            <a:ext cx="737116" cy="8845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78305" y="419766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Stack Pointer (SP)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1678305" y="4516398"/>
            <a:ext cx="1215830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Points to stack top for calls/state.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934783"/>
            <a:ext cx="737116" cy="88451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78305" y="508218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MAR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1678305" y="5400913"/>
            <a:ext cx="1215830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Memory Address Register for R/W.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819299"/>
            <a:ext cx="737116" cy="88451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78305" y="596669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MUX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1678305" y="6285428"/>
            <a:ext cx="1215830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Directs signals between components.</a:t>
            </a:r>
            <a:endParaRPr lang="en-US" sz="11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B345B9-6074-4A6C-99BC-0AFB5B46F796}"/>
              </a:ext>
            </a:extLst>
          </p:cNvPr>
          <p:cNvSpPr/>
          <p:nvPr/>
        </p:nvSpPr>
        <p:spPr>
          <a:xfrm>
            <a:off x="12778740" y="7600950"/>
            <a:ext cx="1851660" cy="62865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5915"/>
            <a:ext cx="761583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How the Instruction Cycle Works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585793"/>
            <a:ext cx="181451" cy="1088708"/>
          </a:xfrm>
          <a:prstGeom prst="roundRect">
            <a:avLst>
              <a:gd name="adj" fmla="val 90006"/>
            </a:avLst>
          </a:prstGeom>
          <a:solidFill>
            <a:srgbClr val="E8F3E8"/>
          </a:solidFill>
          <a:ln/>
        </p:spPr>
      </p:sp>
      <p:sp>
        <p:nvSpPr>
          <p:cNvPr id="4" name="Text 2"/>
          <p:cNvSpPr/>
          <p:nvPr/>
        </p:nvSpPr>
        <p:spPr>
          <a:xfrm>
            <a:off x="1156692" y="176724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Fetch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156692" y="2159556"/>
            <a:ext cx="126799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PC sends address to RAM; instruction to IR.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65967" y="2810589"/>
            <a:ext cx="181451" cy="1088708"/>
          </a:xfrm>
          <a:prstGeom prst="roundRect">
            <a:avLst>
              <a:gd name="adj" fmla="val 90006"/>
            </a:avLst>
          </a:prstGeom>
          <a:solidFill>
            <a:srgbClr val="E8F3E8"/>
          </a:solidFill>
          <a:ln/>
        </p:spPr>
      </p:sp>
      <p:sp>
        <p:nvSpPr>
          <p:cNvPr id="7" name="Text 5"/>
          <p:cNvSpPr/>
          <p:nvPr/>
        </p:nvSpPr>
        <p:spPr>
          <a:xfrm>
            <a:off x="1428869" y="299204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Decode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428869" y="3384352"/>
            <a:ext cx="1240774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Control Unit interprets instruction.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38143" y="4035385"/>
            <a:ext cx="181451" cy="1088708"/>
          </a:xfrm>
          <a:prstGeom prst="roundRect">
            <a:avLst>
              <a:gd name="adj" fmla="val 90006"/>
            </a:avLst>
          </a:prstGeom>
          <a:solidFill>
            <a:srgbClr val="E8F3E8"/>
          </a:solidFill>
          <a:ln/>
        </p:spPr>
      </p:sp>
      <p:sp>
        <p:nvSpPr>
          <p:cNvPr id="10" name="Text 8"/>
          <p:cNvSpPr/>
          <p:nvPr/>
        </p:nvSpPr>
        <p:spPr>
          <a:xfrm>
            <a:off x="1701046" y="421683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Execute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701046" y="4609148"/>
            <a:ext cx="1213556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ALU/data path components carry out.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10320" y="5260181"/>
            <a:ext cx="181451" cy="1088708"/>
          </a:xfrm>
          <a:prstGeom prst="roundRect">
            <a:avLst>
              <a:gd name="adj" fmla="val 90006"/>
            </a:avLst>
          </a:prstGeom>
          <a:solidFill>
            <a:srgbClr val="E8F3E8"/>
          </a:solidFill>
          <a:ln/>
        </p:spPr>
      </p:sp>
      <p:sp>
        <p:nvSpPr>
          <p:cNvPr id="13" name="Text 11"/>
          <p:cNvSpPr/>
          <p:nvPr/>
        </p:nvSpPr>
        <p:spPr>
          <a:xfrm>
            <a:off x="1973223" y="544163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Store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973223" y="5833943"/>
            <a:ext cx="1186338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Result saved in Register or RAM.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38143" y="6484977"/>
            <a:ext cx="181451" cy="1088708"/>
          </a:xfrm>
          <a:prstGeom prst="roundRect">
            <a:avLst>
              <a:gd name="adj" fmla="val 90006"/>
            </a:avLst>
          </a:prstGeom>
          <a:solidFill>
            <a:srgbClr val="E8F3E8"/>
          </a:solidFill>
          <a:ln/>
        </p:spPr>
      </p:sp>
      <p:sp>
        <p:nvSpPr>
          <p:cNvPr id="16" name="Text 14"/>
          <p:cNvSpPr/>
          <p:nvPr/>
        </p:nvSpPr>
        <p:spPr>
          <a:xfrm>
            <a:off x="1701046" y="666642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PC Increments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701046" y="7058739"/>
            <a:ext cx="1213556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Points to next instruction.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EC7791-E633-4DB5-9278-55405E4F2D21}"/>
              </a:ext>
            </a:extLst>
          </p:cNvPr>
          <p:cNvSpPr/>
          <p:nvPr/>
        </p:nvSpPr>
        <p:spPr>
          <a:xfrm>
            <a:off x="12778740" y="7600950"/>
            <a:ext cx="1851660" cy="62865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80855"/>
            <a:ext cx="63631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ALU and Flag Register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566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ALU Capabilities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9377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Add, Subtract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AND, OR, NOT, XOR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Outputs: Result + Flag signals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3566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Flag Register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9377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Zero (Z)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Carry (C)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Negative (N)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Overflow (V)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70654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Used for conditional branching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5BE2E5-5DDC-4E48-A5E6-702D761A6DD9}"/>
              </a:ext>
            </a:extLst>
          </p:cNvPr>
          <p:cNvSpPr/>
          <p:nvPr/>
        </p:nvSpPr>
        <p:spPr>
          <a:xfrm>
            <a:off x="12778740" y="7600950"/>
            <a:ext cx="1851660" cy="62865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1558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Control Unit &amp; Microoperations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573304"/>
            <a:ext cx="7556421" cy="1306949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800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Control Unit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4290536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Decodes instruction opcode. Triggers micro-operations.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5107067"/>
            <a:ext cx="7556421" cy="1306949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1020604" y="53338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Micro-operations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604" y="5824299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Enable Register → ALU. Write RAM → Register. PC + 1 → PC.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5525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Memory &amp; Stack Operations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26324"/>
            <a:ext cx="36364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194316" y="4958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RAM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448538"/>
            <a:ext cx="36364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Stores programs and data. Addressed by MAR, via data bus.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713684" y="3926324"/>
            <a:ext cx="36365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114330" y="4958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Stack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713684" y="5448538"/>
            <a:ext cx="36365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Push/Pop operations via SP. Supports subroutines.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846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80109"/>
            <a:ext cx="422779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Simulation &amp; Results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7303770" y="3514368"/>
            <a:ext cx="22860" cy="3919657"/>
          </a:xfrm>
          <a:prstGeom prst="roundRect">
            <a:avLst>
              <a:gd name="adj" fmla="val 625116"/>
            </a:avLst>
          </a:prstGeom>
          <a:solidFill>
            <a:srgbClr val="CED9CE"/>
          </a:solidFill>
          <a:ln/>
        </p:spPr>
      </p:sp>
      <p:sp>
        <p:nvSpPr>
          <p:cNvPr id="5" name="Shape 2"/>
          <p:cNvSpPr/>
          <p:nvPr/>
        </p:nvSpPr>
        <p:spPr>
          <a:xfrm>
            <a:off x="6683216" y="3681532"/>
            <a:ext cx="476250" cy="22860"/>
          </a:xfrm>
          <a:prstGeom prst="roundRect">
            <a:avLst>
              <a:gd name="adj" fmla="val 625116"/>
            </a:avLst>
          </a:prstGeom>
          <a:solidFill>
            <a:srgbClr val="CED9CE"/>
          </a:solidFill>
          <a:ln/>
        </p:spPr>
      </p:sp>
      <p:sp>
        <p:nvSpPr>
          <p:cNvPr id="6" name="Shape 3"/>
          <p:cNvSpPr/>
          <p:nvPr/>
        </p:nvSpPr>
        <p:spPr>
          <a:xfrm>
            <a:off x="7136606" y="3514368"/>
            <a:ext cx="357188" cy="357188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7" name="Text 4"/>
          <p:cNvSpPr/>
          <p:nvPr/>
        </p:nvSpPr>
        <p:spPr>
          <a:xfrm>
            <a:off x="7196137" y="354413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536758" y="356889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Test Programs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3912156"/>
            <a:ext cx="5727621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Addition, Subtraction, Comparison. Register </a:t>
            </a:r>
            <a:r>
              <a:rPr lang="en-US" sz="12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↔</a:t>
            </a: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RAM data transfer.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470934" y="4634151"/>
            <a:ext cx="476250" cy="22860"/>
          </a:xfrm>
          <a:prstGeom prst="roundRect">
            <a:avLst>
              <a:gd name="adj" fmla="val 625116"/>
            </a:avLst>
          </a:prstGeom>
          <a:solidFill>
            <a:srgbClr val="CED9CE"/>
          </a:solidFill>
          <a:ln/>
        </p:spPr>
      </p:sp>
      <p:sp>
        <p:nvSpPr>
          <p:cNvPr id="11" name="Shape 8"/>
          <p:cNvSpPr/>
          <p:nvPr/>
        </p:nvSpPr>
        <p:spPr>
          <a:xfrm>
            <a:off x="7136606" y="4466987"/>
            <a:ext cx="357188" cy="357188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7196137" y="449675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108990" y="452151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Instruction Cycle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108990" y="4864775"/>
            <a:ext cx="57276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Observed in real time.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683216" y="5455206"/>
            <a:ext cx="476250" cy="22860"/>
          </a:xfrm>
          <a:prstGeom prst="roundRect">
            <a:avLst>
              <a:gd name="adj" fmla="val 625116"/>
            </a:avLst>
          </a:prstGeom>
          <a:solidFill>
            <a:srgbClr val="CED9CE"/>
          </a:solidFill>
          <a:ln/>
        </p:spPr>
      </p:sp>
      <p:sp>
        <p:nvSpPr>
          <p:cNvPr id="16" name="Shape 13"/>
          <p:cNvSpPr/>
          <p:nvPr/>
        </p:nvSpPr>
        <p:spPr>
          <a:xfrm>
            <a:off x="7136606" y="5288042"/>
            <a:ext cx="357188" cy="357188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17" name="Text 14"/>
          <p:cNvSpPr/>
          <p:nvPr/>
        </p:nvSpPr>
        <p:spPr>
          <a:xfrm>
            <a:off x="7196137" y="531780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4536758" y="534257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ALU Accuracy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793790" y="5685830"/>
            <a:ext cx="57276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Accurate logic/arithmetic.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470934" y="6276380"/>
            <a:ext cx="476250" cy="22860"/>
          </a:xfrm>
          <a:prstGeom prst="roundRect">
            <a:avLst>
              <a:gd name="adj" fmla="val 625116"/>
            </a:avLst>
          </a:prstGeom>
          <a:solidFill>
            <a:srgbClr val="CED9CE"/>
          </a:solidFill>
          <a:ln/>
        </p:spPr>
      </p:sp>
      <p:sp>
        <p:nvSpPr>
          <p:cNvPr id="21" name="Shape 18"/>
          <p:cNvSpPr/>
          <p:nvPr/>
        </p:nvSpPr>
        <p:spPr>
          <a:xfrm>
            <a:off x="7136606" y="6109216"/>
            <a:ext cx="357188" cy="357188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22" name="Text 19"/>
          <p:cNvSpPr/>
          <p:nvPr/>
        </p:nvSpPr>
        <p:spPr>
          <a:xfrm>
            <a:off x="7196137" y="613898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</a:t>
            </a:r>
            <a:endParaRPr lang="en-US" sz="1850" dirty="0"/>
          </a:p>
        </p:txBody>
      </p:sp>
      <p:sp>
        <p:nvSpPr>
          <p:cNvPr id="23" name="Text 20"/>
          <p:cNvSpPr/>
          <p:nvPr/>
        </p:nvSpPr>
        <p:spPr>
          <a:xfrm>
            <a:off x="8108990" y="616374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Synchronization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8108990" y="6507004"/>
            <a:ext cx="57276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 components worked synchronously via Clock.</a:t>
            </a:r>
            <a:endParaRPr lang="en-US" sz="12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B4F681-23D5-4D38-A925-20FDD614CABC}"/>
              </a:ext>
            </a:extLst>
          </p:cNvPr>
          <p:cNvSpPr/>
          <p:nvPr/>
        </p:nvSpPr>
        <p:spPr>
          <a:xfrm>
            <a:off x="12778740" y="7600950"/>
            <a:ext cx="1851660" cy="62865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954"/>
            <a:ext cx="75955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Conclusion &amp; Future 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Functional simulated 16-bit computer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Hands-on learning of hardware concepts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577709"/>
            <a:ext cx="31787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 I/O devices (Keyboard, Display)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Interrupts &amp; System Calls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Expand instruction set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4854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 graphical assembler/interface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C1819B-000F-4386-945C-00CB09918AD9}"/>
              </a:ext>
            </a:extLst>
          </p:cNvPr>
          <p:cNvSpPr/>
          <p:nvPr/>
        </p:nvSpPr>
        <p:spPr>
          <a:xfrm>
            <a:off x="12778740" y="7600950"/>
            <a:ext cx="1851660" cy="62865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420</Words>
  <Application>Microsoft Office PowerPoint</Application>
  <PresentationFormat>Custom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Fraunces Extra Bold</vt:lpstr>
      <vt:lpstr>Calibri</vt:lpstr>
      <vt:lpstr>Arial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 Samad</cp:lastModifiedBy>
  <cp:revision>2</cp:revision>
  <dcterms:created xsi:type="dcterms:W3CDTF">2025-06-17T04:43:19Z</dcterms:created>
  <dcterms:modified xsi:type="dcterms:W3CDTF">2025-06-17T04:47:36Z</dcterms:modified>
</cp:coreProperties>
</file>